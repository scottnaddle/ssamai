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Microsoft YaHei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Microsoft YaHei"/>
              </a:rPr>
              <a:t>콩나물 키 변화 (cm)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컵 (빛 O)</c:v>
                </c:pt>
              </c:strCache>
            </c:strRef>
          </c:tx>
          <c:spPr>
            <a:solidFill>
              <a:srgbClr val="2D5E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1일</c:v>
                  </c:pt>
                  <c:pt idx="1">
                    <c:v>3일</c:v>
                  </c:pt>
                  <c:pt idx="2">
                    <c:v>5일</c:v>
                  </c:pt>
                  <c:pt idx="3">
                    <c:v>7일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3.5</c:v>
                </c:pt>
                <c:pt idx="2">
                  <c:v>5.2</c:v>
                </c:pt>
                <c:pt idx="3">
                  <c:v>7.8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컵 (빛 X)</c:v>
                </c:pt>
              </c:strCache>
            </c:strRef>
          </c:tx>
          <c:spPr>
            <a:solidFill>
              <a:srgbClr val="5A8C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1일</c:v>
                  </c:pt>
                  <c:pt idx="1">
                    <c:v>3일</c:v>
                  </c:pt>
                  <c:pt idx="2">
                    <c:v>5일</c:v>
                  </c:pt>
                  <c:pt idx="3">
                    <c:v>7일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4.8</c:v>
                </c:pt>
                <c:pt idx="2">
                  <c:v>7.5</c:v>
                </c:pt>
                <c:pt idx="3">
                  <c:v>9.2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5E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교수학습과정안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280160" cy="347472"/>
          </a:xfrm>
          <a:prstGeom prst="rect">
            <a:avLst/>
          </a:prstGeom>
          <a:solidFill>
            <a:srgbClr val="2D5E3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교 과 명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83080" y="777240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8D4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7772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과학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61288"/>
            <a:ext cx="1280160" cy="347472"/>
          </a:xfrm>
          <a:prstGeom prst="rect">
            <a:avLst/>
          </a:prstGeom>
          <a:solidFill>
            <a:srgbClr val="2D5E3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6128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학 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83080" y="1161288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8D4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11612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초등 3학년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545336"/>
            <a:ext cx="1280160" cy="347472"/>
          </a:xfrm>
          <a:prstGeom prst="rect">
            <a:avLst/>
          </a:prstGeom>
          <a:solidFill>
            <a:srgbClr val="2D5E3E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54533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학 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83080" y="1545336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8D4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4520" y="154533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2학기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929384"/>
            <a:ext cx="1280160" cy="347472"/>
          </a:xfrm>
          <a:prstGeom prst="rect">
            <a:avLst/>
          </a:prstGeom>
          <a:solidFill>
            <a:srgbClr val="2D5E3E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192938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단 원 명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83080" y="1929384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8D4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192938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식물의 세계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313432"/>
            <a:ext cx="1280160" cy="347472"/>
          </a:xfrm>
          <a:prstGeom prst="rect">
            <a:avLst/>
          </a:prstGeom>
          <a:solidFill>
            <a:srgbClr val="2D5E3E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31343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차 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783080" y="2313432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8D4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74520" y="23134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26280" y="777240"/>
            <a:ext cx="1280160" cy="347472"/>
          </a:xfrm>
          <a:prstGeom prst="rect">
            <a:avLst/>
          </a:prstGeom>
          <a:solidFill>
            <a:srgbClr val="2D5E3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7772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쪽 수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52160" y="777240"/>
            <a:ext cx="2834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8D4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7772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과학 14~15쪽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26280" y="1161288"/>
            <a:ext cx="1280160" cy="347472"/>
          </a:xfrm>
          <a:prstGeom prst="rect">
            <a:avLst/>
          </a:prstGeom>
          <a:solidFill>
            <a:srgbClr val="2D5E3E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116128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학습주제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52160" y="1161288"/>
            <a:ext cx="2834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8D4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11612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광합성이란?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26280" y="1545336"/>
            <a:ext cx="1280160" cy="347472"/>
          </a:xfrm>
          <a:prstGeom prst="rect">
            <a:avLst/>
          </a:prstGeom>
          <a:solidFill>
            <a:srgbClr val="2D5E3E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0" y="154533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활동유형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52160" y="1545336"/>
            <a:ext cx="2834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8D4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154533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관찰, 실험, 토의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26280" y="1929384"/>
            <a:ext cx="1280160" cy="347472"/>
          </a:xfrm>
          <a:prstGeom prst="rect">
            <a:avLst/>
          </a:prstGeom>
          <a:solidFill>
            <a:srgbClr val="2D5E3E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0" y="192938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학습환경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852160" y="1929384"/>
            <a:ext cx="2834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8D4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0" y="19293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교실, 과학실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26280" y="2313432"/>
            <a:ext cx="1280160" cy="347472"/>
          </a:xfrm>
          <a:prstGeom prst="rect">
            <a:avLst/>
          </a:prstGeom>
          <a:solidFill>
            <a:srgbClr val="2D5E3E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0" y="231343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준비물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852160" y="2313432"/>
            <a:ext cx="2834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8D4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0" y="23134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콩나물, 컵, 물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28346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8F4E0"/>
          </a:solidFill>
          <a:ln w="12700">
            <a:solidFill>
              <a:srgbClr val="2D5E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학습목표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식물의 잎에서 일어나는 광합성 과정을 설명할 수 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빛이 있을 때와 없을 때 식물의 변화를 비교 관찰할 수 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실험 결과를 표와 그래프로 정리하여 결론을 도출할 수 있다.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학습활동 흐름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57200" y="425196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A8D49A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42519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도입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57200" y="45079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생각 열기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383280" y="425196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A8D49A"/>
          </a:solidFill>
          <a:ln/>
        </p:spPr>
      </p:sp>
      <p:sp>
        <p:nvSpPr>
          <p:cNvPr id="52" name="Text 50"/>
          <p:cNvSpPr/>
          <p:nvPr/>
        </p:nvSpPr>
        <p:spPr>
          <a:xfrm>
            <a:off x="3383280" y="42519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전개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383280" y="45079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개념 학습 + 실험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09360" y="425196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A8D49A"/>
          </a:solidFill>
          <a:ln/>
        </p:spPr>
      </p:sp>
      <p:sp>
        <p:nvSpPr>
          <p:cNvPr id="55" name="Text 53"/>
          <p:cNvSpPr/>
          <p:nvPr/>
        </p:nvSpPr>
        <p:spPr>
          <a:xfrm>
            <a:off x="6309360" y="42519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정리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309360" y="45079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결과 분석 + 형성평가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880360" y="4389120"/>
            <a:ext cx="457200" cy="274320"/>
          </a:xfrm>
          <a:prstGeom prst="rightArrow">
            <a:avLst/>
          </a:prstGeom>
          <a:solidFill>
            <a:srgbClr val="5A8C4A"/>
          </a:solidFill>
          <a:ln/>
        </p:spPr>
      </p:sp>
      <p:sp>
        <p:nvSpPr>
          <p:cNvPr id="58" name="Shape 56"/>
          <p:cNvSpPr/>
          <p:nvPr/>
        </p:nvSpPr>
        <p:spPr>
          <a:xfrm>
            <a:off x="5806440" y="4389120"/>
            <a:ext cx="457200" cy="274320"/>
          </a:xfrm>
          <a:prstGeom prst="rightArrow">
            <a:avLst/>
          </a:prstGeom>
          <a:solidFill>
            <a:srgbClr val="5A8C4A"/>
          </a:solidFill>
          <a:ln/>
        </p:spPr>
      </p:sp>
      <p:sp>
        <p:nvSpPr>
          <p:cNvPr id="59" name="Text 57"/>
          <p:cNvSpPr/>
          <p:nvPr/>
        </p:nvSpPr>
        <p:spPr>
          <a:xfrm>
            <a:off x="7772400" y="4892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교수학습과정안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5E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초등 과학 3학년 2학기 · 4단원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광합성이란?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식물이 어떻게 양분을 만들까요?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4114800"/>
            <a:ext cx="27432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3학년 2반 · 과학탐구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도입 · 생각 열기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371600"/>
            <a:ext cx="7315200" cy="1280160"/>
          </a:xfrm>
          <a:prstGeom prst="roundRect">
            <a:avLst>
              <a:gd name="adj" fmla="val 10714"/>
            </a:avLst>
          </a:prstGeom>
          <a:solidFill>
            <a:srgbClr val="E8F4E0"/>
          </a:solidFill>
          <a:ln w="12700">
            <a:solidFill>
              <a:srgbClr val="A8D4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5087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나무는 어떻게 자라날까요?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0574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사람은 밥을 먹고 자라지만, 식물은 어떻게 크는 걸까?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생각해 볼 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식물이 자라려면 무엇이 필요할까요?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잎이 초록색인 이유는 무엇일까요?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어두운 곳에서도 식물이 자랄 수 있을까요?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A8D49A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광합성이란?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80160"/>
            <a:ext cx="7680960" cy="1463040"/>
          </a:xfrm>
          <a:prstGeom prst="roundRect">
            <a:avLst>
              <a:gd name="adj" fmla="val 12500"/>
            </a:avLst>
          </a:prstGeom>
          <a:solidFill>
            <a:srgbClr val="E8F4E0"/>
          </a:solidFill>
          <a:ln w="25400">
            <a:solidFill>
              <a:srgbClr val="2D5E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빛 에너지를 이용해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이산화탄소와 물로 양분(포도당)을 만들고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산소를 내보내는 과정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핵심 키워드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A8D49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빛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햇빛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74720" y="356616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A8D49A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엽록소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4720" y="4069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잎의 초록색 물질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56616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A8D49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양분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4069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포도당(포도당)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A8D49A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광합성에 필요한 것과 나오는 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384048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5400">
            <a:solidFill>
              <a:srgbClr val="5A8C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들어오는 것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빛 (햇빛)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이산화탄소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물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엽록소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846320" y="1280160"/>
            <a:ext cx="3840480" cy="3200400"/>
          </a:xfrm>
          <a:prstGeom prst="roundRect">
            <a:avLst>
              <a:gd name="adj" fmla="val 4286"/>
            </a:avLst>
          </a:prstGeom>
          <a:solidFill>
            <a:srgbClr val="E8F4E0"/>
          </a:solidFill>
          <a:ln w="25400">
            <a:solidFill>
              <a:srgbClr val="2D5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나오는 것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120640" y="192024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양분 (포도당)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산소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97680" y="2606040"/>
            <a:ext cx="548640" cy="457200"/>
          </a:xfrm>
          <a:prstGeom prst="rightArrow">
            <a:avLst/>
          </a:prstGeom>
          <a:solidFill>
            <a:srgbClr val="A8D49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식물의 잎에서 이 과정이 일어납니다.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A8D49A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광합성 반응식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2D5E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이산화탄소 + 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0" y="1463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4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0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4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엽록소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874520"/>
            <a:ext cx="548640" cy="457200"/>
          </a:xfrm>
          <a:prstGeom prst="rightArrow">
            <a:avLst/>
          </a:prstGeom>
          <a:solidFill>
            <a:srgbClr val="A8D49A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1691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포도당 + 산소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 + H₂O → C₆H₁₂O₆ + O₂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이렇게 기억해요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7033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식물은 햇빛을 받으면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이산화탄소와 물로 양분을 만들어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우리에게 필요한 산소를 내어놓아요.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A8D49A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5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E8F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실험으로 알아보기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3200400" y="3840480"/>
            <a:ext cx="27432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F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빛이 있을 때와 없을 때, 식물은 어떻게 다를까?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실험 가설 세우기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280160"/>
            <a:ext cx="7315200" cy="1280160"/>
          </a:xfrm>
          <a:prstGeom prst="roundRect">
            <a:avLst>
              <a:gd name="adj" fmla="val 10714"/>
            </a:avLst>
          </a:prstGeom>
          <a:solidFill>
            <a:srgbClr val="E8F4E0"/>
          </a:solidFill>
          <a:ln w="25400">
            <a:solidFill>
              <a:srgbClr val="2D5E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가설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빛이 있는 곳에서 키운 식물은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빛이 없는 곳에서 키운 식물보다 잘 자랄 것이다.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준비물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물에 적신 콩나물 20개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두 개의 투명한 컵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물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실험 조건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32004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컵: 밝은 곳에 둠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컵: 어두운 상자 안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매일 관찰, 기록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A8D49A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실험 관찰 기록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관찰일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E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컵 (빛 O)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E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 컵 (빛 X)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E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1일차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변화 없음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변화 없음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3일차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잎이 초록, 곧음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잎이 연해짐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5일차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줄기가 자람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줄기가 길고 가늘어짐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7일차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D5E3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건강하게 성장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A8C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엽록소가 사라짐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관찰 포인트: 잎의 색, 줄기 굵기, 키의 차이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A8D49A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5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E8F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결과 분석 워크시트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3200400" y="3840480"/>
            <a:ext cx="27432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F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실험 결과를 모둠별로 정리해 봅시다.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관찰 기록 워크시트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이름: ____________  모둠: ______  날짜: ______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27432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날짜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E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 컵 그림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E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 컵 그림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E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차이점 메모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E3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1일차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3일차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5일차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7일차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그림을 그리고 차이점을 자세히 적어 봅시다.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A8D49A"/>
          </a:solidFill>
          <a:ln/>
        </p:spPr>
      </p:sp>
      <p:sp>
        <p:nvSpPr>
          <p:cNvPr id="8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데이터 정리 &amp; 그래프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188720"/>
            <a:ext cx="3017520" cy="3200400"/>
          </a:xfrm>
          <a:prstGeom prst="roundRect">
            <a:avLst>
              <a:gd name="adj" fmla="val 4545"/>
            </a:avLst>
          </a:prstGeom>
          <a:solidFill>
            <a:srgbClr val="E8F4E0"/>
          </a:solidFill>
          <a:ln w="12700">
            <a:solidFill>
              <a:srgbClr val="A8D49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60720" y="1280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결과 해석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852160" y="173736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컵이 더 빨리 자랐지만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줄기가 가늘고 연합니다.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컵은 건강하고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초록색을 유지했습니다.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A8D49A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5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E8F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정리 &amp; 심화 토론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3200400" y="3840480"/>
            <a:ext cx="27432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F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오늘 배운 내용을 일상생활과 연결해 봅시다.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오늘 배운 내용 정리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80160"/>
            <a:ext cx="731520" cy="731520"/>
          </a:xfrm>
          <a:prstGeom prst="ellipse">
            <a:avLst/>
          </a:prstGeom>
          <a:solidFill>
            <a:srgbClr val="2D5E3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45920" y="1280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광합성 정의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691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빛·이산화탄소·물 → 양분·산소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731520" cy="731520"/>
          </a:xfrm>
          <a:prstGeom prst="ellipse">
            <a:avLst/>
          </a:prstGeom>
          <a:solidFill>
            <a:srgbClr val="2D5E3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645920" y="2377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엽록소의 역할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7889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잎의 초록색 물질, 빛 에너지를 흡수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731520" cy="731520"/>
          </a:xfrm>
          <a:prstGeom prst="ellipse">
            <a:avLst/>
          </a:prstGeom>
          <a:solidFill>
            <a:srgbClr val="2D5E3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74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645920" y="3474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빛의 중요성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3886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빛이 없으면 엽록소가 사라지고 건강하지 못함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A8D49A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심화 토론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모둠별로 생각해 봅시다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E8F4E0"/>
          </a:solidFill>
          <a:ln w="12700">
            <a:solidFill>
              <a:srgbClr val="A8D4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Q1. 왜 가을에 나뭇잎이 노랗게 변할까요?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힌트: 엽록소가 사라지면?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A8D4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88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Q2. 집 안 화분이 창가 쪽으로 기울어져 있다면?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힌트: 빛을 찾아 식물도 움직여요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E8F4E0"/>
          </a:solidFill>
          <a:ln w="12700">
            <a:solidFill>
              <a:srgbClr val="A8D4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Q3. 바다 속 해조류도 광합성을 할까요?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힌트: 빛이 닿는 얕은 바다에서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A8D49A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형성평가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A8D4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광합성에 대한 설명으로 옳은 것은?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이산화탄소를 흡수하고 산소를 내보낸다.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뿌리에서 일어나는 과정이다.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밤에만 일어난다.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양분을 만드는 과정이 아니다.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빛이 없어도 일어난다.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0" y="109728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A8D49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1097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정답 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광합성에 필요한 것이 아닌 것은?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빛   ② 물   ③ 이산화탄소   ④ 산소   ⑤ 엽록소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283464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A8D49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정답 ④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빛이 없는 곳에서 키운 식물의 특징으로 옳은 것은?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잎이 초록색이 진해진다.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줄기가 굵고 단단해진다.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잎이 연하고 줄기가 가늘어진다.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뿌리가 매우 깊게 자란다.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A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꽃이 많이 핀다.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370332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A8D49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3703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5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정답 ③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A8D49A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광합성이란? - 초등 3학년</dc:title>
  <dc:subject>초등 과학 3학년 2학기 - 식물의 세계 (2/5)</dc:subject>
  <dc:creator>ssamAI 샘플 v2</dc:creator>
  <cp:lastModifiedBy>ssamAI 샘플 v2</cp:lastModifiedBy>
  <cp:revision>1</cp:revision>
  <dcterms:created xsi:type="dcterms:W3CDTF">2026-06-24T05:25:35Z</dcterms:created>
  <dcterms:modified xsi:type="dcterms:W3CDTF">2026-06-24T05:25:35Z</dcterms:modified>
</cp:coreProperties>
</file>